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46304" cy="4754880"/>
          </a:xfrm>
          <a:prstGeom prst="rect">
            <a:avLst/>
          </a:prstGeom>
          <a:solidFill>
            <a:srgbClr val="EEB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234440"/>
            <a:ext cx="98755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PROFESSIONAL PRACTICE</a:t>
            </a:r>
            <a:br/>
            <a:r>
              <a:t>AND ETHICS</a:t>
            </a:r>
          </a:p>
          <a:p>
            <a:pPr>
              <a:defRPr sz="2000">
                <a:solidFill>
                  <a:srgbClr val="BEDEE1"/>
                </a:solidFill>
                <a:latin typeface="Aptos"/>
              </a:defRPr>
            </a:pPr>
            <a:r>
              <a:t>Academic Integrity • Cyber Safety • Data Privacy • Responsible Use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66344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B.Tech Computer Engineering | 3rd Semester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Explain academic integrity and identify common forms of academic misconduct.</a:t>
            </a:r>
          </a:p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Recognize common cyber threats and follow safe online practices.</a:t>
            </a:r>
          </a:p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Describe data privacy and ways to protect personal information.</a:t>
            </a:r>
          </a:p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Use AI tools responsibly, transparently, and critically.</a:t>
            </a:r>
          </a:p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Apply ethical practices in academic work and professional life.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1. Academic Integrity: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Academic integrity means being honest, fair, responsible, and respectful in learning and research.</a:t>
            </a:r>
          </a:p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Submit work that reflects your own understanding and effort.</a:t>
            </a:r>
          </a:p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Give credit to authors, websites, books, images, and other sources you use.</a:t>
            </a:r>
          </a:p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Follow examination rules and your institution’s instructions.</a:t>
            </a:r>
          </a:p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Example: Mention the source when using a paragraph or idea from a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Academic Integrity: What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Plagiarism: presenting someone else’s words or ideas as your own.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Cheating: using unauthorized help or materials during an examination.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Fabrication: inventing data, results, or references.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Collusion: working with others when individual work is required.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Misrepresentation: claiming work or achievements that are not yours.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How to Maintain Academic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Plan assignments early and manage your time.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Write in your own words and understand the material.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Use quotation marks for exact words and cite sources properly.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Keep records of sources, notes, and research data.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Ask your teacher when you are unsure what help is allowed.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Check your work before submitting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2. Cyber Safety: Meaning and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Cyber safety means using digital devices, networks, and online services safely.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Phishing: fake messages or websites designed to steal information.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Malware: harmful software that can damage devices or steal data.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Online scams: tricks used to obtain money or personal details.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Cyberbullying: using digital platforms to threaten, harass, or humiliate someone.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Public Wi-Fi and unknown downloads can also create security risks.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Cyber Safety: Good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Use strong, unique passwords; consider a trusted password manager.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Enable two-factor authentication wherever available.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Never share passwords, PINs, or OTPs.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Check the sender and website address before clicking links.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Install updates and download apps from trusted sources.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Lock your device, back up important files, and report suspicious activity.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Think before posting; online content may be copied or shared.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3. Data Privacy: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Data privacy concerns how personal information is collected, used, stored, and shared.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Personal data may include name, phone number, address, photographs, location, and financial details.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Sensitive information should only be accessed or shared for a valid, authorized purpose.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Example: A college should handle students’ contact details and academic records carefully.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Privacy means appropriate handling of data; security means protecting data from threats.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Ways to Protect Data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Share only the information that is necessary.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Review app permissions for camera, microphone, contacts, and location.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Use privacy settings on social media and other online accounts.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Do not post identity documents, passwords, or private records publicly.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Use secure connections and keep devices and apps updated.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Get permission before sharing another person’s photo or personal details.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Delete or securely dispose of data when it is no longer needed.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4. Responsible Use of AI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AI tools can help brainstorm ideas, explain concepts, summarize material, and improve writing.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Follow your institution’s rules on whether and how AI may be used.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Do not submit AI-generated work as entirely your own if that violates the assignment rules.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Verify facts, calculations, quotations, and references; AI can make mistakes.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Protect privacy: do not enter passwords, personal records, or confidential institutional data.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Disclose AI assistance when required and remain responsible for the final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AI: Good Use vs. Misuse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B3541"/>
                </a:solidFill>
                <a:latin typeface="Aptos"/>
              </a:defRPr>
            </a:pPr>
            <a:r>
              <a:t>Good use: Ask AI to explain a difficult concept, then check it against reliable sources.</a:t>
            </a:r>
          </a:p>
          <a:p>
            <a:pPr>
              <a:spcAft>
                <a:spcPts val="1300"/>
              </a:spcAft>
              <a:defRPr sz="1900">
                <a:solidFill>
                  <a:srgbClr val="2B3541"/>
                </a:solidFill>
                <a:latin typeface="Aptos"/>
              </a:defRPr>
            </a:pPr>
            <a:r>
              <a:t>Good use: Use feedback to improve a draft that you wrote yourself.</a:t>
            </a:r>
          </a:p>
          <a:p>
            <a:pPr>
              <a:spcAft>
                <a:spcPts val="1300"/>
              </a:spcAft>
              <a:defRPr sz="1900">
                <a:solidFill>
                  <a:srgbClr val="2B3541"/>
                </a:solidFill>
                <a:latin typeface="Aptos"/>
              </a:defRPr>
            </a:pPr>
            <a:r>
              <a:t>Good use: Generate practice questions for revision.</a:t>
            </a:r>
          </a:p>
          <a:p>
            <a:pPr>
              <a:spcAft>
                <a:spcPts val="1300"/>
              </a:spcAft>
              <a:defRPr sz="1900">
                <a:solidFill>
                  <a:srgbClr val="2B3541"/>
                </a:solidFill>
                <a:latin typeface="Aptos"/>
              </a:defRPr>
            </a:pPr>
            <a:r>
              <a:t>Misuse: Copy an AI answer without understanding it when independent work is required.</a:t>
            </a:r>
          </a:p>
          <a:p>
            <a:pPr>
              <a:spcAft>
                <a:spcPts val="1300"/>
              </a:spcAft>
              <a:defRPr sz="1900">
                <a:solidFill>
                  <a:srgbClr val="2B3541"/>
                </a:solidFill>
                <a:latin typeface="Aptos"/>
              </a:defRPr>
            </a:pPr>
            <a:r>
              <a:t>Misuse: Use invented references or unverified claims from an AI tool.</a:t>
            </a:r>
          </a:p>
          <a:p>
            <a:pPr>
              <a:spcAft>
                <a:spcPts val="1300"/>
              </a:spcAft>
              <a:defRPr sz="1900">
                <a:solidFill>
                  <a:srgbClr val="2B3541"/>
                </a:solidFill>
                <a:latin typeface="Aptos"/>
              </a:defRPr>
            </a:pPr>
            <a:r>
              <a:t>Misuse: Upload confidential student, staff, or organization data without authorization.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Classroom Activity: What Would You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Scenario 1: You copy a paragraph from a website. What should you do before submitting?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Scenario 2: You receive a message asking for your bank OTP. How should you respond?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Scenario 3: An app asks for location access when it does not need it. What can you do?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Scenario 4: AI gives you a reference that you cannot find. Should you use it?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Discuss: Identify the risk and suggest one responsible action for each scenario.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Quick Review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1. What is academic integrity?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2. What is plagiarism? Give one example.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3. Name two common cyber threats.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4. Mention three ways to protect data privacy.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5. What is the difference between data privacy and data security?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6. Why should AI-generated information be verified?</a:t>
            </a:r>
          </a:p>
          <a:p>
            <a:pPr>
              <a:spcAft>
                <a:spcPts val="1300"/>
              </a:spcAft>
              <a:defRPr sz="2000">
                <a:solidFill>
                  <a:srgbClr val="2B3541"/>
                </a:solidFill>
                <a:latin typeface="Aptos"/>
              </a:defRPr>
            </a:pPr>
            <a:r>
              <a:t>7. Why should confidential information not be entered into public AI tools?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A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46304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983480"/>
          </a:xfrm>
          <a:prstGeom prst="rect">
            <a:avLst/>
          </a:prstGeom>
          <a:noFill/>
        </p:spPr>
        <p:txBody>
          <a:bodyPr wrap="square" lIns="109728" rIns="109728" tIns="91440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Be honest: do your own work and acknowledge sources.</a:t>
            </a:r>
          </a:p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Be safe: protect accounts, devices, and personal information.</a:t>
            </a:r>
          </a:p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Be private: share data carefully and respect other people’s information.</a:t>
            </a:r>
          </a:p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Be responsible with AI: verify outputs, follow rules, and disclose assistance when required.</a:t>
            </a:r>
          </a:p>
          <a:p>
            <a:pPr>
              <a:spcAft>
                <a:spcPts val="1300"/>
              </a:spcAft>
              <a:defRPr sz="2100">
                <a:solidFill>
                  <a:srgbClr val="2B3541"/>
                </a:solidFill>
                <a:latin typeface="Aptos"/>
              </a:defRPr>
            </a:pPr>
            <a:r>
              <a:t>Ethical digital behaviour builds trust in education and the workplace.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310896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EDEE1"/>
                </a:solidFill>
                <a:latin typeface="Aptos"/>
              </a:defRPr>
            </a:pPr>
            <a:r>
              <a:t>Be honest. Stay safe. Protect privacy. Use AI responsibly.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00848A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